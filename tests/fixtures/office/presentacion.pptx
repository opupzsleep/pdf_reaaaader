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Ventas por zona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Norte</c:v>
                </c:pt>
                <c:pt idx="1">
                  <c:v>Sur</c:v>
                </c:pt>
                <c:pt idx="2">
                  <c:v>Este</c:v>
                </c:pt>
                <c:pt idx="3">
                  <c:v>Oeste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Norte</c:v>
                </c:pt>
                <c:pt idx="1">
                  <c:v>Sur</c:v>
                </c:pt>
                <c:pt idx="2">
                  <c:v>Este</c:v>
                </c:pt>
                <c:pt idx="3">
                  <c:v>Oeste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22.3</c:v>
                </c:pt>
                <c:pt idx="1">
                  <c:v>18.2</c:v>
                </c:pt>
                <c:pt idx="2">
                  <c:v>21.1</c:v>
                </c:pt>
                <c:pt idx="3">
                  <c:v>15.6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Cuota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de lanzamiento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Producto nuevo · Otoño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Aumentar las ventas un 20 %</a:t>
            </a:r>
          </a:p>
          <a:p>
            <a:pPr/>
            <a:r>
              <a:t>Reforzar la marca</a:t>
            </a:r>
          </a:p>
          <a:p>
            <a:pPr lvl="1"/>
            <a:r>
              <a:t>Campaña en redes sociales</a:t>
            </a:r>
          </a:p>
          <a:p>
            <a:pPr/>
            <a:r>
              <a:t>Nuevos mercados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Formas y colores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828800" cy="13716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Forma 1</a:t>
            </a:r>
          </a:p>
        </p:txBody>
      </p:sp>
      <p:sp>
        <p:nvSpPr>
          <p:cNvPr id="4" name="Oval 3"/>
          <p:cNvSpPr/>
          <p:nvPr/>
        </p:nvSpPr>
        <p:spPr>
          <a:xfrm>
            <a:off x="2926080" y="2011680"/>
            <a:ext cx="1828800" cy="1371600"/>
          </a:xfrm>
          <a:prstGeom prst="ellipse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Forma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011680"/>
            <a:ext cx="1828800" cy="13716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Forma 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315199" y="2011680"/>
            <a:ext cx="1828800" cy="1371600"/>
          </a:xfrm>
          <a:prstGeom prst="rightArrow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Forma 4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509760" y="2011680"/>
            <a:ext cx="1828800" cy="1371600"/>
          </a:xfrm>
          <a:prstGeom prst="triangle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Forma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/>
              <a:t>Texto en negrita, </a:t>
            </a:r>
            <a:r>
              <a:rPr i="1" sz="2400">
                <a:solidFill>
                  <a:srgbClr val="C00000"/>
                </a:solidFill>
              </a:rPr>
              <a:t>cursiva roja</a:t>
            </a:r>
          </a:p>
          <a:p>
            <a:pPr algn="ctr"/>
            <a:r>
              <a:rPr sz="1400"/>
              <a:t>Centrado y pequeño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Imagen y tabla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23145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0" y="164592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1200"/>
                <a:gridCol w="1981200"/>
              </a:tblGrid>
              <a:tr h="609600">
                <a:tc>
                  <a:txBody>
                    <a:bodyPr/>
                    <a:lstStyle/>
                    <a:p>
                      <a:r>
                        <a:t>Región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Cuota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35 %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27 %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743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/>
              <a:t>¡Gracias!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46304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463040"/>
          <a:ext cx="51206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